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Century Gothic Paneuropean Bold" charset="1" panose="020B0702020202020204"/>
      <p:regular r:id="rId24"/>
    </p:embeddedFont>
    <p:embeddedFont>
      <p:font typeface="Century Gothic Paneuropean" charset="1" panose="020B0502020202020204"/>
      <p:regular r:id="rId25"/>
    </p:embeddedFont>
    <p:embeddedFont>
      <p:font typeface="Open Sans Bold" charset="1" panose="020B0806030504020204"/>
      <p:regular r:id="rId26"/>
    </p:embeddedFont>
    <p:embeddedFont>
      <p:font typeface="Open Sans" charset="1" panose="020B0606030504020204"/>
      <p:regular r:id="rId27"/>
    </p:embeddedFont>
    <p:embeddedFont>
      <p:font typeface="Century Gothic Paneuropean Bold Italics" charset="1" panose="020B0702020202090204"/>
      <p:regular r:id="rId28"/>
    </p:embeddedFont>
    <p:embeddedFont>
      <p:font typeface="Century Gothic Paneuropean Italics" charset="1" panose="020B0502020202090204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VAGmImy-Fxs.mp4" Type="http://schemas.openxmlformats.org/officeDocument/2006/relationships/video"/><Relationship Id="rId4" Target="../media/VAGmImy-Fxs.mp4" Type="http://schemas.microsoft.com/office/2007/relationships/media"/><Relationship Id="rId5" Target="../media/VAGmImy-Fxs.mp4" Type="http://schemas.openxmlformats.org/officeDocument/2006/relationships/video"/><Relationship Id="rId6" Target="../media/VAGmImy-Fxs.mp4" Type="http://schemas.microsoft.com/office/2007/relationships/media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VAGmImcHJGw.mp4" Type="http://schemas.openxmlformats.org/officeDocument/2006/relationships/video"/><Relationship Id="rId4" Target="../media/VAGmImcHJGw.mp4" Type="http://schemas.microsoft.com/office/2007/relationships/media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VAGmIv2sCBA.mp4" Type="http://schemas.openxmlformats.org/officeDocument/2006/relationships/video"/><Relationship Id="rId4" Target="../media/VAGmIv2sCBA.mp4" Type="http://schemas.microsoft.com/office/2007/relationships/media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VAGmItgwQa4.mp4" Type="http://schemas.openxmlformats.org/officeDocument/2006/relationships/video"/><Relationship Id="rId4" Target="../media/VAGmItgwQa4.mp4" Type="http://schemas.microsoft.com/office/2007/relationships/media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VAGmIoyGRQs.mp4" Type="http://schemas.openxmlformats.org/officeDocument/2006/relationships/video"/><Relationship Id="rId4" Target="../media/VAGmIoyGRQs.mp4" Type="http://schemas.microsoft.com/office/2007/relationships/media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34754" y="2723223"/>
            <a:ext cx="13018493" cy="2845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40"/>
              </a:lnSpc>
            </a:pPr>
            <a:r>
              <a:rPr lang="en-US" b="true" sz="51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APAN 5210</a:t>
            </a:r>
          </a:p>
          <a:p>
            <a:pPr algn="ctr">
              <a:lnSpc>
                <a:spcPts val="16229"/>
              </a:lnSpc>
            </a:pPr>
            <a:r>
              <a:rPr lang="en-US" b="true" sz="115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AI AGENT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882925" y="6129734"/>
            <a:ext cx="8522150" cy="3181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Kibaek Kim (</a:t>
            </a:r>
            <a:r>
              <a:rPr lang="en-US" sz="26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kk3789)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Shu</a:t>
            </a:r>
            <a:r>
              <a:rPr lang="en-US" sz="26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yi Wang (sw3970)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Shuteng Xie (sx2405)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Angelina Ying (ky2604)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Jing Xiao (</a:t>
            </a:r>
            <a:r>
              <a:rPr lang="en-US" sz="26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jx2617)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Sze Ning Tan (st3730)</a:t>
            </a:r>
          </a:p>
          <a:p>
            <a:pPr algn="ctr">
              <a:lnSpc>
                <a:spcPts val="3640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875411" y="938315"/>
            <a:ext cx="8537178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OVERVIEW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18326" y="3028023"/>
            <a:ext cx="12454772" cy="6468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76"/>
              </a:lnSpc>
            </a:pPr>
            <a:r>
              <a:rPr lang="en-US" sz="33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Our AI agent is designed specifically for data analysis projects. It automatically reads the data, selects suitable analytical models, generates Python code, interprets the results, and produces a complete, professional report — all through a fully autonomous and reflective workflow with multi-agents and multi-LLM models.</a:t>
            </a:r>
          </a:p>
          <a:p>
            <a:pPr algn="l">
              <a:lnSpc>
                <a:spcPts val="4676"/>
              </a:lnSpc>
            </a:pPr>
            <a:r>
              <a:rPr lang="en-US" sz="33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Built with scalability, our multi-agent application is deployed on the Streamlit framework and supports integration with local LLM models, ensuring flexible, efficient, and cost-effective deployment across different environments.</a:t>
            </a:r>
          </a:p>
          <a:p>
            <a:pPr algn="l">
              <a:lnSpc>
                <a:spcPts val="4676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236394"/>
            <a:ext cx="11809880" cy="7794521"/>
          </a:xfrm>
          <a:custGeom>
            <a:avLst/>
            <a:gdLst/>
            <a:ahLst/>
            <a:cxnLst/>
            <a:rect r="r" b="b" t="t" l="l"/>
            <a:pathLst>
              <a:path h="7794521" w="11809880">
                <a:moveTo>
                  <a:pt x="0" y="0"/>
                </a:moveTo>
                <a:lnTo>
                  <a:pt x="11809880" y="0"/>
                </a:lnTo>
                <a:lnTo>
                  <a:pt x="11809880" y="7794521"/>
                </a:lnTo>
                <a:lnTo>
                  <a:pt x="0" y="77945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05183"/>
            <a:ext cx="16938923" cy="1069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68"/>
              </a:lnSpc>
              <a:spcBef>
                <a:spcPct val="0"/>
              </a:spcBef>
            </a:pPr>
            <a:r>
              <a:rPr lang="en-US" b="true" sz="6263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Docker Container and Folder Structure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371543"/>
            <a:ext cx="12120290" cy="711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14"/>
              </a:lnSpc>
              <a:spcBef>
                <a:spcPct val="0"/>
              </a:spcBef>
            </a:pPr>
            <a:r>
              <a:rPr lang="en-US" sz="422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https://github.com/hyper07/apan5210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893754" y="3599523"/>
            <a:ext cx="2590284" cy="1026555"/>
            <a:chOff x="0" y="0"/>
            <a:chExt cx="682215" cy="27036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82215" cy="270368"/>
            </a:xfrm>
            <a:custGeom>
              <a:avLst/>
              <a:gdLst/>
              <a:ahLst/>
              <a:cxnLst/>
              <a:rect r="r" b="b" t="t" l="l"/>
              <a:pathLst>
                <a:path h="270368" w="682215">
                  <a:moveTo>
                    <a:pt x="135184" y="0"/>
                  </a:moveTo>
                  <a:lnTo>
                    <a:pt x="547030" y="0"/>
                  </a:lnTo>
                  <a:cubicBezTo>
                    <a:pt x="621691" y="0"/>
                    <a:pt x="682215" y="60524"/>
                    <a:pt x="682215" y="135184"/>
                  </a:cubicBezTo>
                  <a:lnTo>
                    <a:pt x="682215" y="135184"/>
                  </a:lnTo>
                  <a:cubicBezTo>
                    <a:pt x="682215" y="209844"/>
                    <a:pt x="621691" y="270368"/>
                    <a:pt x="547030" y="270368"/>
                  </a:cubicBezTo>
                  <a:lnTo>
                    <a:pt x="135184" y="270368"/>
                  </a:lnTo>
                  <a:cubicBezTo>
                    <a:pt x="60524" y="270368"/>
                    <a:pt x="0" y="209844"/>
                    <a:pt x="0" y="135184"/>
                  </a:cubicBezTo>
                  <a:lnTo>
                    <a:pt x="0" y="135184"/>
                  </a:lnTo>
                  <a:cubicBezTo>
                    <a:pt x="0" y="60524"/>
                    <a:pt x="60524" y="0"/>
                    <a:pt x="135184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682215" cy="327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Analyzer</a:t>
              </a:r>
            </a:p>
            <a:p>
              <a:pPr algn="ctr">
                <a:lnSpc>
                  <a:spcPts val="2520"/>
                </a:lnSpc>
              </a:pPr>
              <a:r>
                <a:rPr lang="en-US" b="true" sz="180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(deepseek)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>
            <a:off x="5484038" y="4093750"/>
            <a:ext cx="1736140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7" id="17"/>
          <p:cNvGrpSpPr/>
          <p:nvPr/>
        </p:nvGrpSpPr>
        <p:grpSpPr>
          <a:xfrm rot="0">
            <a:off x="7220178" y="3599523"/>
            <a:ext cx="2590284" cy="1026555"/>
            <a:chOff x="0" y="0"/>
            <a:chExt cx="682215" cy="27036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2215" cy="270368"/>
            </a:xfrm>
            <a:custGeom>
              <a:avLst/>
              <a:gdLst/>
              <a:ahLst/>
              <a:cxnLst/>
              <a:rect r="r" b="b" t="t" l="l"/>
              <a:pathLst>
                <a:path h="270368" w="682215">
                  <a:moveTo>
                    <a:pt x="135184" y="0"/>
                  </a:moveTo>
                  <a:lnTo>
                    <a:pt x="547030" y="0"/>
                  </a:lnTo>
                  <a:cubicBezTo>
                    <a:pt x="621691" y="0"/>
                    <a:pt x="682215" y="60524"/>
                    <a:pt x="682215" y="135184"/>
                  </a:cubicBezTo>
                  <a:lnTo>
                    <a:pt x="682215" y="135184"/>
                  </a:lnTo>
                  <a:cubicBezTo>
                    <a:pt x="682215" y="209844"/>
                    <a:pt x="621691" y="270368"/>
                    <a:pt x="547030" y="270368"/>
                  </a:cubicBezTo>
                  <a:lnTo>
                    <a:pt x="135184" y="270368"/>
                  </a:lnTo>
                  <a:cubicBezTo>
                    <a:pt x="60524" y="270368"/>
                    <a:pt x="0" y="209844"/>
                    <a:pt x="0" y="135184"/>
                  </a:cubicBezTo>
                  <a:lnTo>
                    <a:pt x="0" y="135184"/>
                  </a:lnTo>
                  <a:cubicBezTo>
                    <a:pt x="0" y="60524"/>
                    <a:pt x="60524" y="0"/>
                    <a:pt x="135184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682215" cy="327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Code</a:t>
              </a:r>
            </a:p>
            <a:p>
              <a:pPr algn="ctr">
                <a:lnSpc>
                  <a:spcPts val="2520"/>
                </a:lnSpc>
              </a:pPr>
              <a:r>
                <a:rPr lang="en-US" b="true" sz="180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(</a:t>
              </a:r>
              <a:r>
                <a:rPr lang="en-US" b="true" sz="180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qwen2.5-coder:3b)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>
            <a:off x="9810461" y="4093750"/>
            <a:ext cx="1736140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1" id="21"/>
          <p:cNvGrpSpPr/>
          <p:nvPr/>
        </p:nvGrpSpPr>
        <p:grpSpPr>
          <a:xfrm rot="0">
            <a:off x="11546601" y="3599523"/>
            <a:ext cx="2590284" cy="1026555"/>
            <a:chOff x="0" y="0"/>
            <a:chExt cx="682215" cy="27036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82215" cy="270368"/>
            </a:xfrm>
            <a:custGeom>
              <a:avLst/>
              <a:gdLst/>
              <a:ahLst/>
              <a:cxnLst/>
              <a:rect r="r" b="b" t="t" l="l"/>
              <a:pathLst>
                <a:path h="270368" w="682215">
                  <a:moveTo>
                    <a:pt x="135184" y="0"/>
                  </a:moveTo>
                  <a:lnTo>
                    <a:pt x="547030" y="0"/>
                  </a:lnTo>
                  <a:cubicBezTo>
                    <a:pt x="621691" y="0"/>
                    <a:pt x="682215" y="60524"/>
                    <a:pt x="682215" y="135184"/>
                  </a:cubicBezTo>
                  <a:lnTo>
                    <a:pt x="682215" y="135184"/>
                  </a:lnTo>
                  <a:cubicBezTo>
                    <a:pt x="682215" y="209844"/>
                    <a:pt x="621691" y="270368"/>
                    <a:pt x="547030" y="270368"/>
                  </a:cubicBezTo>
                  <a:lnTo>
                    <a:pt x="135184" y="270368"/>
                  </a:lnTo>
                  <a:cubicBezTo>
                    <a:pt x="60524" y="270368"/>
                    <a:pt x="0" y="209844"/>
                    <a:pt x="0" y="135184"/>
                  </a:cubicBezTo>
                  <a:lnTo>
                    <a:pt x="0" y="135184"/>
                  </a:lnTo>
                  <a:cubicBezTo>
                    <a:pt x="0" y="60524"/>
                    <a:pt x="60524" y="0"/>
                    <a:pt x="135184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682215" cy="327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Insight</a:t>
              </a:r>
            </a:p>
            <a:p>
              <a:pPr algn="ctr">
                <a:lnSpc>
                  <a:spcPts val="2520"/>
                </a:lnSpc>
              </a:pPr>
              <a:r>
                <a:rPr lang="en-US" b="true" sz="180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(phi3)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029248" y="7152518"/>
            <a:ext cx="3114752" cy="1026555"/>
            <a:chOff x="0" y="0"/>
            <a:chExt cx="820346" cy="27036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20346" cy="270368"/>
            </a:xfrm>
            <a:custGeom>
              <a:avLst/>
              <a:gdLst/>
              <a:ahLst/>
              <a:cxnLst/>
              <a:rect r="r" b="b" t="t" l="l"/>
              <a:pathLst>
                <a:path h="270368" w="820346">
                  <a:moveTo>
                    <a:pt x="126764" y="0"/>
                  </a:moveTo>
                  <a:lnTo>
                    <a:pt x="693582" y="0"/>
                  </a:lnTo>
                  <a:cubicBezTo>
                    <a:pt x="727202" y="0"/>
                    <a:pt x="759445" y="13355"/>
                    <a:pt x="783218" y="37128"/>
                  </a:cubicBezTo>
                  <a:cubicBezTo>
                    <a:pt x="806991" y="60901"/>
                    <a:pt x="820346" y="93144"/>
                    <a:pt x="820346" y="126764"/>
                  </a:cubicBezTo>
                  <a:lnTo>
                    <a:pt x="820346" y="143604"/>
                  </a:lnTo>
                  <a:cubicBezTo>
                    <a:pt x="820346" y="213614"/>
                    <a:pt x="763592" y="270368"/>
                    <a:pt x="693582" y="270368"/>
                  </a:cubicBezTo>
                  <a:lnTo>
                    <a:pt x="126764" y="270368"/>
                  </a:lnTo>
                  <a:cubicBezTo>
                    <a:pt x="56754" y="270368"/>
                    <a:pt x="0" y="213614"/>
                    <a:pt x="0" y="143604"/>
                  </a:cubicBezTo>
                  <a:lnTo>
                    <a:pt x="0" y="126764"/>
                  </a:lnTo>
                  <a:cubicBezTo>
                    <a:pt x="0" y="56754"/>
                    <a:pt x="56754" y="0"/>
                    <a:pt x="126764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820346" cy="327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Review</a:t>
              </a:r>
            </a:p>
            <a:p>
              <a:pPr algn="ctr">
                <a:lnSpc>
                  <a:spcPts val="2520"/>
                </a:lnSpc>
              </a:pPr>
              <a:r>
                <a:rPr lang="en-US" b="true" sz="180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(llama3.2:1b)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592427" y="7152518"/>
            <a:ext cx="2590284" cy="1026555"/>
            <a:chOff x="0" y="0"/>
            <a:chExt cx="682215" cy="27036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82215" cy="270368"/>
            </a:xfrm>
            <a:custGeom>
              <a:avLst/>
              <a:gdLst/>
              <a:ahLst/>
              <a:cxnLst/>
              <a:rect r="r" b="b" t="t" l="l"/>
              <a:pathLst>
                <a:path h="270368" w="682215">
                  <a:moveTo>
                    <a:pt x="135184" y="0"/>
                  </a:moveTo>
                  <a:lnTo>
                    <a:pt x="547030" y="0"/>
                  </a:lnTo>
                  <a:cubicBezTo>
                    <a:pt x="621691" y="0"/>
                    <a:pt x="682215" y="60524"/>
                    <a:pt x="682215" y="135184"/>
                  </a:cubicBezTo>
                  <a:lnTo>
                    <a:pt x="682215" y="135184"/>
                  </a:lnTo>
                  <a:cubicBezTo>
                    <a:pt x="682215" y="209844"/>
                    <a:pt x="621691" y="270368"/>
                    <a:pt x="547030" y="270368"/>
                  </a:cubicBezTo>
                  <a:lnTo>
                    <a:pt x="135184" y="270368"/>
                  </a:lnTo>
                  <a:cubicBezTo>
                    <a:pt x="60524" y="270368"/>
                    <a:pt x="0" y="209844"/>
                    <a:pt x="0" y="135184"/>
                  </a:cubicBezTo>
                  <a:lnTo>
                    <a:pt x="0" y="135184"/>
                  </a:lnTo>
                  <a:cubicBezTo>
                    <a:pt x="0" y="60524"/>
                    <a:pt x="60524" y="0"/>
                    <a:pt x="135184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682215" cy="327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Report</a:t>
              </a:r>
            </a:p>
            <a:p>
              <a:pPr algn="ctr">
                <a:lnSpc>
                  <a:spcPts val="2520"/>
                </a:lnSpc>
              </a:pPr>
              <a:r>
                <a:rPr lang="en-US" b="true" sz="180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(exaone3.5:2.4b)</a:t>
              </a:r>
            </a:p>
          </p:txBody>
        </p:sp>
      </p:grpSp>
      <p:sp>
        <p:nvSpPr>
          <p:cNvPr name="AutoShape 30" id="30"/>
          <p:cNvSpPr/>
          <p:nvPr/>
        </p:nvSpPr>
        <p:spPr>
          <a:xfrm flipH="true">
            <a:off x="9144000" y="7665795"/>
            <a:ext cx="244842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1" id="31"/>
          <p:cNvGrpSpPr/>
          <p:nvPr/>
        </p:nvGrpSpPr>
        <p:grpSpPr>
          <a:xfrm rot="0">
            <a:off x="9044687" y="5330927"/>
            <a:ext cx="2590284" cy="1026555"/>
            <a:chOff x="0" y="0"/>
            <a:chExt cx="682215" cy="27036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82215" cy="270368"/>
            </a:xfrm>
            <a:custGeom>
              <a:avLst/>
              <a:gdLst/>
              <a:ahLst/>
              <a:cxnLst/>
              <a:rect r="r" b="b" t="t" l="l"/>
              <a:pathLst>
                <a:path h="270368" w="682215">
                  <a:moveTo>
                    <a:pt x="135184" y="0"/>
                  </a:moveTo>
                  <a:lnTo>
                    <a:pt x="547030" y="0"/>
                  </a:lnTo>
                  <a:cubicBezTo>
                    <a:pt x="621691" y="0"/>
                    <a:pt x="682215" y="60524"/>
                    <a:pt x="682215" y="135184"/>
                  </a:cubicBezTo>
                  <a:lnTo>
                    <a:pt x="682215" y="135184"/>
                  </a:lnTo>
                  <a:cubicBezTo>
                    <a:pt x="682215" y="209844"/>
                    <a:pt x="621691" y="270368"/>
                    <a:pt x="547030" y="270368"/>
                  </a:cubicBezTo>
                  <a:lnTo>
                    <a:pt x="135184" y="270368"/>
                  </a:lnTo>
                  <a:cubicBezTo>
                    <a:pt x="60524" y="270368"/>
                    <a:pt x="0" y="209844"/>
                    <a:pt x="0" y="135184"/>
                  </a:cubicBezTo>
                  <a:lnTo>
                    <a:pt x="0" y="135184"/>
                  </a:lnTo>
                  <a:cubicBezTo>
                    <a:pt x="0" y="60524"/>
                    <a:pt x="60524" y="0"/>
                    <a:pt x="135184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682215" cy="327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Translate</a:t>
              </a:r>
            </a:p>
            <a:p>
              <a:pPr algn="ctr">
                <a:lnSpc>
                  <a:spcPts val="2520"/>
                </a:lnSpc>
              </a:pPr>
              <a:r>
                <a:rPr lang="en-US" b="true" sz="180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(phi4-mini)</a:t>
              </a: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-1319912">
            <a:off x="14045125" y="4765723"/>
            <a:ext cx="1422107" cy="2200553"/>
          </a:xfrm>
          <a:custGeom>
            <a:avLst/>
            <a:gdLst/>
            <a:ahLst/>
            <a:cxnLst/>
            <a:rect r="r" b="b" t="t" l="l"/>
            <a:pathLst>
              <a:path h="2200553" w="1422107">
                <a:moveTo>
                  <a:pt x="0" y="0"/>
                </a:moveTo>
                <a:lnTo>
                  <a:pt x="1422108" y="0"/>
                </a:lnTo>
                <a:lnTo>
                  <a:pt x="1422108" y="2200553"/>
                </a:lnTo>
                <a:lnTo>
                  <a:pt x="0" y="22005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4875411" y="938315"/>
            <a:ext cx="8537178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Wo</a:t>
            </a:r>
            <a:r>
              <a:rPr lang="en-US" sz="6000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rkflow Diagram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033642" y="3047073"/>
            <a:ext cx="231050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Recommend Models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612131" y="3047073"/>
            <a:ext cx="180637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Generate Codes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533581" y="3056598"/>
            <a:ext cx="261632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Analyze Model Outputs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545831" y="6505452"/>
            <a:ext cx="158799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Translate Text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680100" y="8379097"/>
            <a:ext cx="2638351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Generate Reports (PDF)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792521" y="8379097"/>
            <a:ext cx="363922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Evaluate Variables and Final PDF</a:t>
            </a:r>
          </a:p>
        </p:txBody>
      </p:sp>
      <p:sp>
        <p:nvSpPr>
          <p:cNvPr name="AutoShape 42" id="42"/>
          <p:cNvSpPr/>
          <p:nvPr/>
        </p:nvSpPr>
        <p:spPr>
          <a:xfrm flipV="true">
            <a:off x="11634971" y="4626077"/>
            <a:ext cx="1206772" cy="121812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3" id="43"/>
          <p:cNvSpPr/>
          <p:nvPr/>
        </p:nvSpPr>
        <p:spPr>
          <a:xfrm>
            <a:off x="11634971" y="5844205"/>
            <a:ext cx="1252597" cy="130831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4" id="44"/>
          <p:cNvSpPr/>
          <p:nvPr/>
        </p:nvSpPr>
        <p:spPr>
          <a:xfrm flipH="true">
            <a:off x="7586624" y="5844205"/>
            <a:ext cx="1458063" cy="130831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75411" y="938315"/>
            <a:ext cx="8537178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Analyzer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132406" y="3018498"/>
            <a:ext cx="12026612" cy="2526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User will upload a file(csv/excel), and their analytic goal as input, this agent will analyze the structure of the content, and will learn what are some model to meet the analytic goal.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132406" y="5637128"/>
            <a:ext cx="12026612" cy="1888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The output will be text, it will recommend what model is the best for the analytic goal, also exolaining the model.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410596" y="8408752"/>
            <a:ext cx="2590284" cy="1026555"/>
            <a:chOff x="0" y="0"/>
            <a:chExt cx="682215" cy="27036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82215" cy="270368"/>
            </a:xfrm>
            <a:custGeom>
              <a:avLst/>
              <a:gdLst/>
              <a:ahLst/>
              <a:cxnLst/>
              <a:rect r="r" b="b" t="t" l="l"/>
              <a:pathLst>
                <a:path h="270368" w="682215">
                  <a:moveTo>
                    <a:pt x="135184" y="0"/>
                  </a:moveTo>
                  <a:lnTo>
                    <a:pt x="547030" y="0"/>
                  </a:lnTo>
                  <a:cubicBezTo>
                    <a:pt x="621691" y="0"/>
                    <a:pt x="682215" y="60524"/>
                    <a:pt x="682215" y="135184"/>
                  </a:cubicBezTo>
                  <a:lnTo>
                    <a:pt x="682215" y="135184"/>
                  </a:lnTo>
                  <a:cubicBezTo>
                    <a:pt x="682215" y="209844"/>
                    <a:pt x="621691" y="270368"/>
                    <a:pt x="547030" y="270368"/>
                  </a:cubicBezTo>
                  <a:lnTo>
                    <a:pt x="135184" y="270368"/>
                  </a:lnTo>
                  <a:cubicBezTo>
                    <a:pt x="60524" y="270368"/>
                    <a:pt x="0" y="209844"/>
                    <a:pt x="0" y="135184"/>
                  </a:cubicBezTo>
                  <a:lnTo>
                    <a:pt x="0" y="135184"/>
                  </a:lnTo>
                  <a:cubicBezTo>
                    <a:pt x="0" y="60524"/>
                    <a:pt x="60524" y="0"/>
                    <a:pt x="135184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682215" cy="327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Analyzer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>
            <a:off x="5571180" y="8941078"/>
            <a:ext cx="1736140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20" id="20"/>
          <p:cNvSpPr txBox="true"/>
          <p:nvPr/>
        </p:nvSpPr>
        <p:spPr>
          <a:xfrm rot="0">
            <a:off x="7550484" y="7856302"/>
            <a:ext cx="231050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Recommend Models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2645596" y="8427801"/>
            <a:ext cx="2925584" cy="1026555"/>
            <a:chOff x="0" y="0"/>
            <a:chExt cx="770524" cy="27036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70524" cy="270368"/>
            </a:xfrm>
            <a:custGeom>
              <a:avLst/>
              <a:gdLst/>
              <a:ahLst/>
              <a:cxnLst/>
              <a:rect r="r" b="b" t="t" l="l"/>
              <a:pathLst>
                <a:path h="270368" w="770524">
                  <a:moveTo>
                    <a:pt x="134960" y="0"/>
                  </a:moveTo>
                  <a:lnTo>
                    <a:pt x="635564" y="0"/>
                  </a:lnTo>
                  <a:cubicBezTo>
                    <a:pt x="710100" y="0"/>
                    <a:pt x="770524" y="60424"/>
                    <a:pt x="770524" y="134960"/>
                  </a:cubicBezTo>
                  <a:lnTo>
                    <a:pt x="770524" y="135408"/>
                  </a:lnTo>
                  <a:cubicBezTo>
                    <a:pt x="770524" y="209944"/>
                    <a:pt x="710100" y="270368"/>
                    <a:pt x="635564" y="270368"/>
                  </a:cubicBezTo>
                  <a:lnTo>
                    <a:pt x="134960" y="270368"/>
                  </a:lnTo>
                  <a:cubicBezTo>
                    <a:pt x="60424" y="270368"/>
                    <a:pt x="0" y="209944"/>
                    <a:pt x="0" y="135408"/>
                  </a:cubicBezTo>
                  <a:lnTo>
                    <a:pt x="0" y="134960"/>
                  </a:lnTo>
                  <a:cubicBezTo>
                    <a:pt x="0" y="60424"/>
                    <a:pt x="60424" y="0"/>
                    <a:pt x="134960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770524" cy="327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CSV&amp;Goal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945280" y="8430711"/>
            <a:ext cx="3582730" cy="1070473"/>
            <a:chOff x="0" y="0"/>
            <a:chExt cx="943600" cy="28193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43600" cy="281935"/>
            </a:xfrm>
            <a:custGeom>
              <a:avLst/>
              <a:gdLst/>
              <a:ahLst/>
              <a:cxnLst/>
              <a:rect r="r" b="b" t="t" l="l"/>
              <a:pathLst>
                <a:path h="281935" w="943600">
                  <a:moveTo>
                    <a:pt x="110206" y="0"/>
                  </a:moveTo>
                  <a:lnTo>
                    <a:pt x="833394" y="0"/>
                  </a:lnTo>
                  <a:cubicBezTo>
                    <a:pt x="862622" y="0"/>
                    <a:pt x="890653" y="11611"/>
                    <a:pt x="911321" y="32279"/>
                  </a:cubicBezTo>
                  <a:cubicBezTo>
                    <a:pt x="931989" y="52946"/>
                    <a:pt x="943600" y="80977"/>
                    <a:pt x="943600" y="110206"/>
                  </a:cubicBezTo>
                  <a:lnTo>
                    <a:pt x="943600" y="171729"/>
                  </a:lnTo>
                  <a:cubicBezTo>
                    <a:pt x="943600" y="200958"/>
                    <a:pt x="931989" y="228989"/>
                    <a:pt x="911321" y="249657"/>
                  </a:cubicBezTo>
                  <a:cubicBezTo>
                    <a:pt x="890653" y="270324"/>
                    <a:pt x="862622" y="281935"/>
                    <a:pt x="833394" y="281935"/>
                  </a:cubicBezTo>
                  <a:lnTo>
                    <a:pt x="110206" y="281935"/>
                  </a:lnTo>
                  <a:cubicBezTo>
                    <a:pt x="80977" y="281935"/>
                    <a:pt x="52946" y="270324"/>
                    <a:pt x="32279" y="249657"/>
                  </a:cubicBezTo>
                  <a:cubicBezTo>
                    <a:pt x="11611" y="228989"/>
                    <a:pt x="0" y="200958"/>
                    <a:pt x="0" y="171729"/>
                  </a:cubicBezTo>
                  <a:lnTo>
                    <a:pt x="0" y="110206"/>
                  </a:lnTo>
                  <a:cubicBezTo>
                    <a:pt x="0" y="80977"/>
                    <a:pt x="11611" y="52946"/>
                    <a:pt x="32279" y="32279"/>
                  </a:cubicBezTo>
                  <a:cubicBezTo>
                    <a:pt x="52946" y="11611"/>
                    <a:pt x="80977" y="0"/>
                    <a:pt x="110206" y="0"/>
                  </a:cubicBez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943600" cy="3390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sz="2599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Recommended</a:t>
              </a:r>
            </a:p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ML Model(s)</a:t>
              </a:r>
            </a:p>
          </p:txBody>
        </p:sp>
      </p:grpSp>
      <p:sp>
        <p:nvSpPr>
          <p:cNvPr name="AutoShape 27" id="27"/>
          <p:cNvSpPr/>
          <p:nvPr/>
        </p:nvSpPr>
        <p:spPr>
          <a:xfrm>
            <a:off x="10105864" y="8941078"/>
            <a:ext cx="1736140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2083811" y="1028700"/>
            <a:ext cx="13084233" cy="8229600"/>
          </a:xfrm>
          <a:prstGeom prst="rect">
            <a:avLst/>
          </a:prstGeom>
        </p:spPr>
      </p:pic>
      <p:pic>
        <p:nvPicPr>
          <p:cNvPr name="Picture 3" id="3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2083811" y="1028700"/>
            <a:ext cx="13084233" cy="822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75411" y="938315"/>
            <a:ext cx="8537178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Code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130694" y="3018498"/>
            <a:ext cx="12026612" cy="2526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This agent receives the results of the model recommendation from the previous agent (Analyzer), which sends the model name and analysis goals to the language model.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132406" y="5728244"/>
            <a:ext cx="12026612" cy="2526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The model returns ready-to-run Python code containing the complete process of model training and evaluation, and the output is in text format with executable code blocks.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986355" y="823136"/>
            <a:ext cx="14962909" cy="822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75411" y="938315"/>
            <a:ext cx="8537178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Insight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130694" y="3018498"/>
            <a:ext cx="12175431" cy="2526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This agent executes the code and evaluates the results produced by the Python code, considering both the recommended model and the characteristics of the input data.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130694" y="5602560"/>
            <a:ext cx="12026612" cy="2526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Based on the outcomes, it generates meaningful insights and provides evidence-based suggestions to support data-driven decision-making.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1074" r="0" b="1074"/>
          <a:stretch>
            <a:fillRect/>
          </a:stretch>
        </p:blipFill>
        <p:spPr>
          <a:xfrm flipH="false" flipV="false" rot="0">
            <a:off x="1028700" y="428041"/>
            <a:ext cx="16766075" cy="943091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75411" y="938315"/>
            <a:ext cx="8537178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Report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130694" y="3018498"/>
            <a:ext cx="12026612" cy="1888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This agent receives output from Insight and Translate, including analysis results and translated text.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130694" y="5097735"/>
            <a:ext cx="12026612" cy="2526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It consolidates the content into clearly structured and formatted reports that summarize analytical findings, model performance, and key insights by GenAI.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3130694" y="7786572"/>
            <a:ext cx="12026612" cy="612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Save to PDF and allow to download it.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2247931" y="866281"/>
            <a:ext cx="13695829" cy="822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75411" y="938315"/>
            <a:ext cx="8537178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Review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132406" y="2674110"/>
            <a:ext cx="12026612" cy="6355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This agent takes the </a:t>
            </a:r>
            <a:r>
              <a:rPr lang="en-US" b="true" sz="3640" i="true">
                <a:solidFill>
                  <a:srgbClr val="000000"/>
                </a:solidFill>
                <a:latin typeface="Century Gothic Paneuropean Bold Italics"/>
                <a:ea typeface="Century Gothic Paneuropean Bold Italics"/>
                <a:cs typeface="Century Gothic Paneuropean Bold Italics"/>
                <a:sym typeface="Century Gothic Paneuropean Bold Italics"/>
              </a:rPr>
              <a:t>combined outputs</a:t>
            </a:r>
            <a:r>
              <a:rPr lang="en-US" sz="3640" i="true">
                <a:solidFill>
                  <a:srgbClr val="000000"/>
                </a:solidFill>
                <a:latin typeface="Century Gothic Paneuropean Italics"/>
                <a:ea typeface="Century Gothic Paneuropean Italics"/>
                <a:cs typeface="Century Gothic Paneuropean Italics"/>
                <a:sym typeface="Century Gothic Paneuropean Italics"/>
              </a:rPr>
              <a:t> </a:t>
            </a: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of the previous Agents (1-5), feeds those into LLM (via Ollama) to </a:t>
            </a:r>
            <a:r>
              <a:rPr lang="en-US" b="true" sz="3640" i="true">
                <a:solidFill>
                  <a:srgbClr val="000000"/>
                </a:solidFill>
                <a:latin typeface="Century Gothic Paneuropean Bold Italics"/>
                <a:ea typeface="Century Gothic Paneuropean Bold Italics"/>
                <a:cs typeface="Century Gothic Paneuropean Bold Italics"/>
                <a:sym typeface="Century Gothic Paneuropean Bold Italics"/>
              </a:rPr>
              <a:t>Polish &amp; Refine</a:t>
            </a:r>
          </a:p>
          <a:p>
            <a:pPr algn="l" marL="1571864" indent="-523955" lvl="2">
              <a:lnSpc>
                <a:spcPts val="5096"/>
              </a:lnSpc>
              <a:buFont typeface="Arial"/>
              <a:buChar char="⚬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Improve clarity &amp; logical flow in the wordings</a:t>
            </a:r>
          </a:p>
          <a:p>
            <a:pPr algn="l" marL="1571864" indent="-523955" lvl="2">
              <a:lnSpc>
                <a:spcPts val="5096"/>
              </a:lnSpc>
              <a:buFont typeface="Arial"/>
              <a:buChar char="⚬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</a:t>
            </a: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tandardize terminology for consistency</a:t>
            </a:r>
          </a:p>
          <a:p>
            <a:pPr algn="l" marL="1571864" indent="-523955" lvl="2">
              <a:lnSpc>
                <a:spcPts val="5096"/>
              </a:lnSpc>
              <a:buFont typeface="Arial"/>
              <a:buChar char="⚬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</a:t>
            </a: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dds smooth transitions</a:t>
            </a:r>
          </a:p>
          <a:p>
            <a:pPr algn="l" marL="1571864" indent="-523955" lvl="2">
              <a:lnSpc>
                <a:spcPts val="5096"/>
              </a:lnSpc>
              <a:buFont typeface="Arial"/>
              <a:buChar char="⚬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Adds appropriate structures to the output</a:t>
            </a: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</a:p>
          <a:p>
            <a:pPr algn="l">
              <a:lnSpc>
                <a:spcPts val="5096"/>
              </a:lnSpc>
            </a:pP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Lastly, uses </a:t>
            </a:r>
            <a:r>
              <a:rPr lang="en-US" b="true" sz="3640" i="true">
                <a:solidFill>
                  <a:srgbClr val="000000"/>
                </a:solidFill>
                <a:latin typeface="Century Gothic Paneuropean Bold Italics"/>
                <a:ea typeface="Century Gothic Paneuropean Bold Italics"/>
                <a:cs typeface="Century Gothic Paneuropean Bold Italics"/>
                <a:sym typeface="Century Gothic Paneuropean Bold Italics"/>
              </a:rPr>
              <a:t>Streamlit </a:t>
            </a: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to render a polished narrative in a </a:t>
            </a:r>
            <a:r>
              <a:rPr lang="en-US" b="true" sz="3640" i="true">
                <a:solidFill>
                  <a:srgbClr val="000000"/>
                </a:solidFill>
                <a:latin typeface="Century Gothic Paneuropean Bold Italics"/>
                <a:ea typeface="Century Gothic Paneuropean Bold Italics"/>
                <a:cs typeface="Century Gothic Paneuropean Bold Italics"/>
                <a:sym typeface="Century Gothic Paneuropean Bold Italics"/>
              </a:rPr>
              <a:t>simple UI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2083811" y="952909"/>
            <a:ext cx="14145254" cy="822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75411" y="938315"/>
            <a:ext cx="8537178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Translate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130694" y="3018498"/>
            <a:ext cx="12026612" cy="1888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Translate the text into target language(s), based on the context and the input from the Insight, report, review agent.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130694" y="5097735"/>
            <a:ext cx="12026612" cy="2526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The translated output would be used to generate reports in multiple languages. Thus, the translate agent plays an important role in ensuring clarity and maintain consistency.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75411" y="938315"/>
            <a:ext cx="8537178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Future Improvement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52114" y="2139336"/>
            <a:ext cx="15576317" cy="7414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9754" indent="-304877" lvl="1">
              <a:lnSpc>
                <a:spcPts val="3953"/>
              </a:lnSpc>
              <a:buFont typeface="Arial"/>
              <a:buChar char="•"/>
            </a:pPr>
            <a:r>
              <a:rPr lang="en-US" sz="2824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Small LLM models showed significant performance gaps and failed to deliver the desired quality. To address this, we opted for a slightly larger model combined with </a:t>
            </a:r>
            <a:r>
              <a:rPr lang="en-US" b="true" sz="2824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Retrieval-Augmented Generation (RAG) to enable local, continuous training.</a:t>
            </a:r>
          </a:p>
          <a:p>
            <a:pPr algn="l">
              <a:lnSpc>
                <a:spcPts val="3953"/>
              </a:lnSpc>
            </a:pPr>
          </a:p>
          <a:p>
            <a:pPr algn="l" marL="609754" indent="-304877" lvl="1">
              <a:lnSpc>
                <a:spcPts val="3953"/>
              </a:lnSpc>
              <a:buFont typeface="Arial"/>
              <a:buChar char="•"/>
            </a:pPr>
            <a:r>
              <a:rPr lang="en-US" sz="2824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In the </a:t>
            </a:r>
            <a:r>
              <a:rPr lang="en-US" b="true" sz="2824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Insights section</a:t>
            </a:r>
            <a:r>
              <a:rPr lang="en-US" sz="2824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, LLM-based insights were underwhelming. </a:t>
            </a:r>
            <a:r>
              <a:rPr lang="en-US" b="true" sz="2824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Integrating an internet search module, similar to Perplexity,</a:t>
            </a:r>
            <a:r>
              <a:rPr lang="en-US" sz="2824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improved the ability to generate relevant and updated insights.</a:t>
            </a:r>
          </a:p>
          <a:p>
            <a:pPr algn="l">
              <a:lnSpc>
                <a:spcPts val="3953"/>
              </a:lnSpc>
            </a:pPr>
          </a:p>
          <a:p>
            <a:pPr algn="l" marL="609754" indent="-304877" lvl="1">
              <a:lnSpc>
                <a:spcPts val="3953"/>
              </a:lnSpc>
              <a:buFont typeface="Arial"/>
              <a:buChar char="•"/>
            </a:pPr>
            <a:r>
              <a:rPr lang="en-US" sz="2824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The </a:t>
            </a:r>
            <a:r>
              <a:rPr lang="en-US" b="true" sz="2824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Python code</a:t>
            </a:r>
            <a:r>
              <a:rPr lang="en-US" sz="2824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generated by GenAI varied in quality, often leading to runtime errors. By refining prompts, we improved code quality, and introducing an</a:t>
            </a:r>
            <a:r>
              <a:rPr lang="en-US" b="true" sz="2824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Error Handling Agent allowed automatic code correction</a:t>
            </a:r>
            <a:r>
              <a:rPr lang="en-US" sz="2824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for error resolution.</a:t>
            </a:r>
          </a:p>
          <a:p>
            <a:pPr algn="l">
              <a:lnSpc>
                <a:spcPts val="3953"/>
              </a:lnSpc>
            </a:pPr>
          </a:p>
          <a:p>
            <a:pPr algn="l" marL="609754" indent="-304877" lvl="1">
              <a:lnSpc>
                <a:spcPts val="3953"/>
              </a:lnSpc>
              <a:buFont typeface="Arial"/>
              <a:buChar char="•"/>
            </a:pPr>
            <a:r>
              <a:rPr lang="en-US" b="true" sz="2824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Converting reports to PDF</a:t>
            </a:r>
            <a:r>
              <a:rPr lang="en-US" sz="2824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posed challenges in achieving clean, professional styling. Through </a:t>
            </a:r>
            <a:r>
              <a:rPr lang="en-US" b="true" sz="2824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prompt tuning,</a:t>
            </a:r>
            <a:r>
              <a:rPr lang="en-US" sz="2824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we enhanced the output quality for </a:t>
            </a:r>
            <a:r>
              <a:rPr lang="en-US" b="true" sz="2824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better-formatted PDF reports</a:t>
            </a:r>
            <a:r>
              <a:rPr lang="en-US" sz="2824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75411" y="938315"/>
            <a:ext cx="8537178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132406" y="2733877"/>
            <a:ext cx="12026612" cy="2526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This system demonstrates a complete automated data analysis process, from model selection and code generation to result interpretation and report writing.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132406" y="5455038"/>
            <a:ext cx="12026612" cy="3803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By assigning tasks to multiple dedicated agents and combining the capabilities of large language models, the system demonstrates a high degree of modularity, flexibility and intelligence, with good potential for practical applications.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50481" y="4013348"/>
            <a:ext cx="12387037" cy="2031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41"/>
              </a:lnSpc>
            </a:pPr>
            <a:r>
              <a:rPr lang="en-US" b="true" sz="11886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THANK YOU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718943" y="-989670"/>
            <a:ext cx="1080715" cy="2956684"/>
            <a:chOff x="0" y="0"/>
            <a:chExt cx="284633" cy="7787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529352" y="9803843"/>
            <a:ext cx="19346704" cy="821917"/>
            <a:chOff x="0" y="0"/>
            <a:chExt cx="5095428" cy="2164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95428" cy="216472"/>
            </a:xfrm>
            <a:custGeom>
              <a:avLst/>
              <a:gdLst/>
              <a:ahLst/>
              <a:cxnLst/>
              <a:rect r="r" b="b" t="t" l="l"/>
              <a:pathLst>
                <a:path h="216472" w="5095428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7259300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486583" y="3085173"/>
            <a:ext cx="4518707" cy="3939865"/>
          </a:xfrm>
          <a:custGeom>
            <a:avLst/>
            <a:gdLst/>
            <a:ahLst/>
            <a:cxnLst/>
            <a:rect r="r" b="b" t="t" l="l"/>
            <a:pathLst>
              <a:path h="3939865" w="4518707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88343" y="-989670"/>
            <a:ext cx="1080715" cy="2956684"/>
            <a:chOff x="0" y="0"/>
            <a:chExt cx="284633" cy="7787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4633" cy="778715"/>
            </a:xfrm>
            <a:custGeom>
              <a:avLst/>
              <a:gdLst/>
              <a:ahLst/>
              <a:cxnLst/>
              <a:rect r="r" b="b" t="t" l="l"/>
              <a:pathLst>
                <a:path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DAGl29YcJeQ</dc:identifier>
  <dcterms:modified xsi:type="dcterms:W3CDTF">2011-08-01T06:04:30Z</dcterms:modified>
  <cp:revision>1</cp:revision>
  <dc:title>Ai Agent</dc:title>
</cp:coreProperties>
</file>